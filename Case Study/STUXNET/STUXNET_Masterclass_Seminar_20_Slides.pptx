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Stuxnet masterclass seminar. In June 2010, the global cybersecurity landscape fundamentally shifted. Up until that point, malware was designed to steal passwords or hold financial data hostage. Stuxnet reached out from cyberspace to physically destroy industrial hardware located 8 meters beneath the Iranian desert.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Natanz was designed to be impervious to conventional military strikes. The cascade halls were buried 8 meters underground, capped with reinforced concrete and earth. There was no internet connection. Plant operators believed physical isolation guaranteed absolute security.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genius of Stuxnet was psychological and kinetic warfare combined. If you bomb a facility, the enemy rebuilds it. But if their own machines silently tear themselves apart while computer monitors report normal operation, they blame their engineers and domestic suppliers.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Purdue Model defines strict zones of trust. You never connect a Level 1 PLC directly to the internet. Firewalls and air gaps isolate Level 2 and Level 1. Stuxnet bypassed perimeter firewalls by riding the supply chain straight into Level 2 on contractor flash drives.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air gap is only as secure as the people who maintain it. Stuxnet did not need an internet cable. The attackers targeted third-party integration contractors. When a technician plugged a calibration laptop into the Level 2 switch at Natanz, Stuxnet hopped the air gap in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 to 2010, the security industry had never seen a piece of malware armed with four distinct zero-days. In the commercial exploit broker market, this represents millions of dollars. It was definitive proof of a well-funded nation-state intelligence apparatus at 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didn't antivirus catch Stuxnet? Because Stuxnet carried legitimate, cryptographically valid signatures from Realtek and JMicron. The attackers didn't crack RSA-2048 cryptography; they hacked the software supply chain to steal the private keys.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Stuxnet's authors exhibited extraordinary operational discipline. They implemented an in-memory virtual file system and hooked kernel directory calls so their exploit files were literally invisible. They even built in an infection hop counter: after 3 machines, the USB stopped spreading.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releasing a weapon that can only infect someone who is exactly 6 feet tall, has blue eyes, and wears a red tie. That is what Stuxnet did in software. If a machine did not match all six hardware criteria, Stuxnet did nothing. It was laser-guided.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if an engineer connected their laptop directly to the PLC and asked STEP 7: 'Show me what code is running on this controller', Stuxnet's hooked DLL intercepted the query, filtered out its own malicious blocks, and presented a clean copy. The engineer had no idea the PLC was compromised.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PLC doesn't run Python or C; it runs a compiled microcode called MC7. Stuxnet was the first malware in history to carry an MC7 compiler. It injected new Function Blocks directly into PLC memory and hooked OB1—the cyclic heartbeat of the industrial controller.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nominal speed, 1,064 Hz, the centrifuge spins safely. But during the overspeed phase, Stuxnet boosted the frequency to 1,410 Hz—pushing the aluminum rotor past its mechanical limit. Then, 27 days later, Stuxnet dropped the frequency to 2 Hz. In physics, when an object with high inertia slows down, it passes through its critical harmonic resonance frequencies. The rotor wobbled and struck the casing.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didn't anyone press the emergency stop button? Because on the WinCC operator monitors, everything looked perfect. The pressure was optimal, vibration was flat, and all indicators were green. Stuxnet recorded 21 seconds of normal telemetry before the attack, and fed that loop back to the SCADA system throughout the sabotage.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people only know about Stuxnet's motor speed attack. But historical reverse-engineering of Stuxnet version 0.5 revealed a complementary attack targeting the Siemens S7-400 PLCs governing the gas valves. By closing exhaust valves, Stuxnet caused UF6 gas pressure to surge. At supersonic speeds, gas drag generates enormous friction.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did Stuxnet get caught? An aggressive propagation variant was loaded in 2010. A contractor carried an infected laptop home, connected to the internet, and the worm spread virally across the globe. Over 58% of all infections were centered in Iran. In Minsk, Belarus, VirusBlokAda investigated a customer's computer stuck in a reboot loop.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security analysts first looked at Stuxnet, they were baffled. Why did it have 500 kilobytes of code—twenty times larger than typical malware? It wasn't until Ralph Langner recognized the Siemens MC7 assembly commands and frequency parameters that the world realized: someone had written software to physically attack a uranium enrichment plant.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every security operations center relies on the MITRE ATT&amp;CK framework. But in 2010, the IT matrix didn't have categories for 'Modify Controller Tasking' or 'Spoof Reporting Message'. Stuxnet forced the cybersecurity industry to invent MITRE ATT&amp;CK for ICS.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stop the next Stuxnet? We cannot rely solely on the engineering workstation's screen, because that screen can be spoofed. We need defense in depth: Deep Packet Inspection of industrial protocols on Port 102, cryptographic hashing of STEP 7 libraries, and most importantly: out-of-band physical sensors.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Stuxnet was the Wright Brothers' plane of cyber-physical weapons. In the 16 years since, we have seen that primitive biplane evolve into supersonic fighter jets. In 2015, BlackEnergy cut power to 225,000 citizens. In 2017, Triton attacked Safety Instrumented Systems in a refinery. The threat has generalized to every critical infrastructure sector.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seminar: Stuxnet taught us that cybersecurity is not about firewalls and antivirus—it is about physical reality. Air gaps do not protect you if your contractors plug in USB drives. Screens cannot be trusted without out-of-band sensors. And software can bend steel. Now, we will transition into our interactive Tabletop Exercise: 'Operation Centrifuge Shadow'.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01 // OVERVIEW  //  SLIDE 01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STUXNET: The Cyber-Physical Rubicon</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Deconstructing the World's First Kinetic Industrial Weapon &amp; The Sabotage of Natanz</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Strategic Executive Summary</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Target Facility: Natanz Fuel Enrichment Plant (FEP), Iran (~8,000 IR-1 gas centrifuges).</a:t>
            </a:r>
          </a:p>
          <a:p>
            <a:pPr>
              <a:spcAft>
                <a:spcPts val="700"/>
              </a:spcAft>
              <a:defRPr sz="1100">
                <a:solidFill>
                  <a:srgbClr val="DCE4F0"/>
                </a:solidFill>
              </a:defRPr>
            </a:pPr>
            <a:r>
              <a:t>•  Strategic Mission: Clandestinely destroy nuclear enrichment hardware without overt kinetic warfare.</a:t>
            </a:r>
          </a:p>
          <a:p>
            <a:pPr>
              <a:spcAft>
                <a:spcPts val="700"/>
              </a:spcAft>
              <a:defRPr sz="1100">
                <a:solidFill>
                  <a:srgbClr val="DCE4F0"/>
                </a:solidFill>
              </a:defRPr>
            </a:pPr>
            <a:r>
              <a:t>•  Novel Weaponry: 4 simultaneous Windows zero-days, 2 stolen hardware code-signing certificates.</a:t>
            </a:r>
          </a:p>
          <a:p>
            <a:pPr>
              <a:spcAft>
                <a:spcPts val="700"/>
              </a:spcAft>
              <a:defRPr sz="1100">
                <a:solidFill>
                  <a:srgbClr val="DCE4F0"/>
                </a:solidFill>
              </a:defRPr>
            </a:pPr>
            <a:r>
              <a:t>•  Kinetic Result: Physical destruction of an estimated ~1,000 centrifuges via rotor overspeed and resonance.</a:t>
            </a:r>
          </a:p>
          <a:p>
            <a:pPr>
              <a:spcAft>
                <a:spcPts val="700"/>
              </a:spcAft>
              <a:defRPr sz="1100">
                <a:solidFill>
                  <a:srgbClr val="DCE4F0"/>
                </a:solidFill>
              </a:defRPr>
            </a:pPr>
            <a:r>
              <a:t>•  Historical Milestone: Proved that digital software instructions can bend steel and shatter industrial hardware.</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tuxnet_how_it_worked_infographic.jpg"/>
          <p:cNvPicPr>
            <a:picLocks noChangeAspect="1"/>
          </p:cNvPicPr>
          <p:nvPr/>
        </p:nvPicPr>
        <p:blipFill>
          <a:blip r:embed="rId2"/>
          <a:stretch>
            <a:fillRect/>
          </a:stretch>
        </p:blipFill>
        <p:spPr>
          <a:xfrm>
            <a:off x="6766560" y="1828800"/>
            <a:ext cx="4510735" cy="3383051"/>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1.1: Stuxnet's end-to-end cyber-physical kill chain: USB infiltration to PLC manipulation.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01 // GEOPOLITICS &amp; GEOGRAPHY  //  SLIDE 02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The Natanz Fuel Enrichment Facility</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A Subterranean Fortress Shielded by Reinforced Concrete and Air Gaps</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Facility Hardening &amp; Defense</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Geographical Isolation: Located 300 km south of Tehran in the central desert of Isfahan Province.</a:t>
            </a:r>
          </a:p>
          <a:p>
            <a:pPr>
              <a:spcAft>
                <a:spcPts val="700"/>
              </a:spcAft>
              <a:defRPr sz="1100">
                <a:solidFill>
                  <a:srgbClr val="DCE4F0"/>
                </a:solidFill>
              </a:defRPr>
            </a:pPr>
            <a:r>
              <a:t>•  Subterranean Hardening: Cascade halls buried 8 meters underground beneath a 2.5-meter reinforced concrete roof.</a:t>
            </a:r>
          </a:p>
          <a:p>
            <a:pPr>
              <a:spcAft>
                <a:spcPts val="700"/>
              </a:spcAft>
              <a:defRPr sz="1100">
                <a:solidFill>
                  <a:srgbClr val="DCE4F0"/>
                </a:solidFill>
              </a:defRPr>
            </a:pPr>
            <a:r>
              <a:t>•  Perimeter Security: Ringed by anti-aircraft missile batteries, radar installations, and elite military guards.</a:t>
            </a:r>
          </a:p>
          <a:p>
            <a:pPr>
              <a:spcAft>
                <a:spcPts val="700"/>
              </a:spcAft>
              <a:defRPr sz="1100">
                <a:solidFill>
                  <a:srgbClr val="DCE4F0"/>
                </a:solidFill>
              </a:defRPr>
            </a:pPr>
            <a:r>
              <a:t>•  The Air Gap: Completely disconnected from the public Internet; zero incoming public telco fiber connections.</a:t>
            </a:r>
          </a:p>
          <a:p>
            <a:pPr>
              <a:spcAft>
                <a:spcPts val="700"/>
              </a:spcAft>
              <a:defRPr sz="1100">
                <a:solidFill>
                  <a:srgbClr val="DCE4F0"/>
                </a:solidFill>
              </a:defRPr>
            </a:pPr>
            <a:r>
              <a:t>•  The Geopolitical Impasse: Military airstrikes risked regional war; a covert cyber weapon was the surgical alternative.</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natanz_enrichment_facility_aerial.jpg"/>
          <p:cNvPicPr>
            <a:picLocks noChangeAspect="1"/>
          </p:cNvPicPr>
          <p:nvPr/>
        </p:nvPicPr>
        <p:blipFill>
          <a:blip r:embed="rId2"/>
          <a:stretch>
            <a:fillRect/>
          </a:stretch>
        </p:blipFill>
        <p:spPr>
          <a:xfrm>
            <a:off x="6766560" y="1828800"/>
            <a:ext cx="4510735" cy="3383051"/>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2.1: Satellite reconnaissance of the Natanz Fuel Enrichment Plant showing subterranean cascade halls.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01 // PARADIGM SHIFT  //  SLIDE 03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The Cyber-Physical Paradigm Shift</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The Transition from Information Security to Physical Kinetic Consequences</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Conventional IT vs. Cyber-Physical Sabotage</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Conventional IT Threat: Focuses on the CIA Triad (Confidentiality, Integrity, Availability of data).</a:t>
            </a:r>
          </a:p>
          <a:p>
            <a:pPr>
              <a:spcAft>
                <a:spcPts val="700"/>
              </a:spcAft>
              <a:defRPr sz="1100">
                <a:solidFill>
                  <a:srgbClr val="DCE4F0"/>
                </a:solidFill>
              </a:defRPr>
            </a:pPr>
            <a:r>
              <a:t>•  Cyber-Physical Threat (OT): Focuses on physical safety, containment, and machinery integrity.</a:t>
            </a:r>
          </a:p>
          <a:p>
            <a:pPr>
              <a:spcAft>
                <a:spcPts val="700"/>
              </a:spcAft>
              <a:defRPr sz="1100">
                <a:solidFill>
                  <a:srgbClr val="DCE4F0"/>
                </a:solidFill>
              </a:defRPr>
            </a:pPr>
            <a:r>
              <a:t>•  Mechanical Translation: Stuxnet translated CPU logic into torque: Delta Logic -&gt; Delta Torque -&gt; Resonance -&gt; Shear.</a:t>
            </a:r>
          </a:p>
          <a:p>
            <a:pPr>
              <a:spcAft>
                <a:spcPts val="700"/>
              </a:spcAft>
              <a:defRPr sz="1100">
                <a:solidFill>
                  <a:srgbClr val="DCE4F0"/>
                </a:solidFill>
              </a:defRPr>
            </a:pPr>
            <a:r>
              <a:t>•  Slow Attrition Doctrine: The goal was NOT to blow up the entire plant at once, which would reveal an attack.</a:t>
            </a:r>
          </a:p>
          <a:p>
            <a:pPr>
              <a:spcAft>
                <a:spcPts val="700"/>
              </a:spcAft>
              <a:defRPr sz="1100">
                <a:solidFill>
                  <a:srgbClr val="DCE4F0"/>
                </a:solidFill>
              </a:defRPr>
            </a:pPr>
            <a:r>
              <a:t>•  Manufacturing Defect Illusion: Stuxnet broke centrifuges gradually, causing Iran to fire engineers and blame domestic suppliers.</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tuxnet_natanz_centrifuges_cascade.jpg"/>
          <p:cNvPicPr>
            <a:picLocks noChangeAspect="1"/>
          </p:cNvPicPr>
          <p:nvPr/>
        </p:nvPicPr>
        <p:blipFill>
          <a:blip r:embed="rId2"/>
          <a:stretch>
            <a:fillRect/>
          </a:stretch>
        </p:blipFill>
        <p:spPr>
          <a:xfrm>
            <a:off x="6766560" y="1828800"/>
            <a:ext cx="4510735" cy="3142224"/>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3.1: Cascade hall containing 164 IR-1 centrifuges spinning UF6 gas under high vacuum.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02 // ARCHITECTURE  //  SLIDE 04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Industrial Topology &amp; The Purdue Model</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How Modern Critical Infrastructure Separates Business IT from Physical Processes</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The 6 Levels of Purdue (PERA)</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Level 4/5 (Enterprise IT): Corporate network, email, ERP, public internet.</a:t>
            </a:r>
          </a:p>
          <a:p>
            <a:pPr>
              <a:spcAft>
                <a:spcPts val="700"/>
              </a:spcAft>
              <a:defRPr sz="1100">
                <a:solidFill>
                  <a:srgbClr val="DCE4F0"/>
                </a:solidFill>
              </a:defRPr>
            </a:pPr>
            <a:r>
              <a:t>•  Level 3.5 (Industrial DMZ): Jump servers, patch mirrors, data historians.</a:t>
            </a:r>
          </a:p>
          <a:p>
            <a:pPr>
              <a:spcAft>
                <a:spcPts val="700"/>
              </a:spcAft>
              <a:defRPr sz="1100">
                <a:solidFill>
                  <a:srgbClr val="DCE4F0"/>
                </a:solidFill>
              </a:defRPr>
            </a:pPr>
            <a:r>
              <a:t>•  Level 3 (Operations Management): SCADA central servers, maintenance tracking.</a:t>
            </a:r>
          </a:p>
          <a:p>
            <a:pPr>
              <a:spcAft>
                <a:spcPts val="700"/>
              </a:spcAft>
              <a:defRPr sz="1100">
                <a:solidFill>
                  <a:srgbClr val="DCE4F0"/>
                </a:solidFill>
              </a:defRPr>
            </a:pPr>
            <a:r>
              <a:t>•  Level 2 (Supervisory Control): Human-Machine Interfaces (WinCC), Engineering Workstations (STEP 7).</a:t>
            </a:r>
          </a:p>
          <a:p>
            <a:pPr>
              <a:spcAft>
                <a:spcPts val="700"/>
              </a:spcAft>
              <a:defRPr sz="1100">
                <a:solidFill>
                  <a:srgbClr val="DCE4F0"/>
                </a:solidFill>
              </a:defRPr>
            </a:pPr>
            <a:r>
              <a:t>•  Level 1 (Basic Control): Siemens S7-315 and S7-417 Programmable Logic Controllers.</a:t>
            </a:r>
          </a:p>
          <a:p>
            <a:pPr>
              <a:spcAft>
                <a:spcPts val="700"/>
              </a:spcAft>
              <a:defRPr sz="1100">
                <a:solidFill>
                  <a:srgbClr val="DCE4F0"/>
                </a:solidFill>
              </a:defRPr>
            </a:pPr>
            <a:r>
              <a:t>•  Level 0 (Physical Process): Variable Frequency Drives, vacuum pumps, valves, and rotating IR-1 centrifuges.</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tuxnet_purdue_model_deep_dive.jpg"/>
          <p:cNvPicPr>
            <a:picLocks noChangeAspect="1"/>
          </p:cNvPicPr>
          <p:nvPr/>
        </p:nvPicPr>
        <p:blipFill>
          <a:blip r:embed="rId2"/>
          <a:stretch>
            <a:fillRect/>
          </a:stretch>
        </p:blipFill>
        <p:spPr>
          <a:xfrm>
            <a:off x="6766560" y="1828800"/>
            <a:ext cx="4510735" cy="2517620"/>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4.1: The Purdue Enterprise Reference Architecture (PERA) showing Stuxnet's path from Level 4 to Level 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02 // INITIAL ACCESS  //  SLIDE 05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Crossing the Chasm: The Air-Gap Breach</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Supply-Chain Compromise &amp; Zero-Click Removable Media Exploitation</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The Infiltration Pathway</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Targeting Contractors: Attackers infected 5 Iranian engineering contractor firms (Foolad, Behpajooh, Neda, Kala, CG-IT).</a:t>
            </a:r>
          </a:p>
          <a:p>
            <a:pPr>
              <a:spcAft>
                <a:spcPts val="700"/>
              </a:spcAft>
              <a:defRPr sz="1100">
                <a:solidFill>
                  <a:srgbClr val="DCE4F0"/>
                </a:solidFill>
              </a:defRPr>
            </a:pPr>
            <a:r>
              <a:t>•  The Trojan Horse: Technicians entered Natanz with infected laptops and USB drives to perform maintenance.</a:t>
            </a:r>
          </a:p>
          <a:p>
            <a:pPr>
              <a:spcAft>
                <a:spcPts val="700"/>
              </a:spcAft>
              <a:defRPr sz="1100">
                <a:solidFill>
                  <a:srgbClr val="DCE4F0"/>
                </a:solidFill>
              </a:defRPr>
            </a:pPr>
            <a:r>
              <a:t>•  Zero-Click USB Execution: Inserting the flash drive was sufficient; no need to click or execute any file.</a:t>
            </a:r>
          </a:p>
          <a:p>
            <a:pPr>
              <a:spcAft>
                <a:spcPts val="700"/>
              </a:spcAft>
              <a:defRPr sz="1100">
                <a:solidFill>
                  <a:srgbClr val="DCE4F0"/>
                </a:solidFill>
              </a:defRPr>
            </a:pPr>
            <a:r>
              <a:t>•  CVE-2010-2568: Windows Shell parser in shell32.dll loaded malicious DLL (~WTR4141.tmp) merely to display shortcut icons.</a:t>
            </a:r>
          </a:p>
          <a:p>
            <a:pPr>
              <a:spcAft>
                <a:spcPts val="700"/>
              </a:spcAft>
              <a:defRPr sz="1100">
                <a:solidFill>
                  <a:srgbClr val="DCE4F0"/>
                </a:solidFill>
              </a:defRPr>
            </a:pPr>
            <a:r>
              <a:t>•  Lateral Subnet Spread: Traversed internal Level 2 subnets via Print Spooler RPC, SMB shares, and STEP 7 project files.</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tuxnet_scada_plc_network_architecture.jpg"/>
          <p:cNvPicPr>
            <a:picLocks noChangeAspect="1"/>
          </p:cNvPicPr>
          <p:nvPr/>
        </p:nvPicPr>
        <p:blipFill>
          <a:blip r:embed="rId2"/>
          <a:stretch>
            <a:fillRect/>
          </a:stretch>
        </p:blipFill>
        <p:spPr>
          <a:xfrm>
            <a:off x="6766560" y="1828800"/>
            <a:ext cx="4510735" cy="2497143"/>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5.1: SCADA and PLC industrial network topology illustrating lateral propagation.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03 // VULNERABILITY EXPLOITATION  //  SLIDE 06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The Arsenal: Four Windows Zero-Days</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An Unprecedented R&amp;D Investment in Remote Execution and Privilege Escalation</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The 4 Zero-Day CVE Breakdown</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CVE-2010-2568 (Windows Shell LNK): Zero-click execution via shortcut icon rendering in shell32.dll.</a:t>
            </a:r>
          </a:p>
          <a:p>
            <a:pPr>
              <a:spcAft>
                <a:spcPts val="700"/>
              </a:spcAft>
              <a:defRPr sz="1100">
                <a:solidFill>
                  <a:srgbClr val="DCE4F0"/>
                </a:solidFill>
              </a:defRPr>
            </a:pPr>
            <a:r>
              <a:t>•  CVE-2010-2729 (Print Spooler RPC): Remote code execution via spoolsv.exe over port 445 for lateral movement.</a:t>
            </a:r>
          </a:p>
          <a:p>
            <a:pPr>
              <a:spcAft>
                <a:spcPts val="700"/>
              </a:spcAft>
              <a:defRPr sz="1100">
                <a:solidFill>
                  <a:srgbClr val="DCE4F0"/>
                </a:solidFill>
              </a:defRPr>
            </a:pPr>
            <a:r>
              <a:t>•  CVE-2010-3338 (Task Scheduler EoP): Local privilege escalation in taskschd.dll to obtain NT AUTHORITY\SYSTEM.</a:t>
            </a:r>
          </a:p>
          <a:p>
            <a:pPr>
              <a:spcAft>
                <a:spcPts val="700"/>
              </a:spcAft>
              <a:defRPr sz="1100">
                <a:solidFill>
                  <a:srgbClr val="DCE4F0"/>
                </a:solidFill>
              </a:defRPr>
            </a:pPr>
            <a:r>
              <a:t>•  CVE-2010-2743 (Win32k.sys Graphics EoP): TrueType keyboard layout memory corruption granting Ring-0 kernel execution.</a:t>
            </a:r>
          </a:p>
          <a:p>
            <a:pPr>
              <a:spcAft>
                <a:spcPts val="700"/>
              </a:spcAft>
              <a:defRPr sz="1100">
                <a:solidFill>
                  <a:srgbClr val="DCE4F0"/>
                </a:solidFill>
              </a:defRPr>
            </a:pPr>
            <a:r>
              <a:t>•  Economic Scale: Assembling four working zero-days simultaneously represented millions of dollars in nation-state R&amp;D.</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tuxnet_windows_zero_days_internals.jpg"/>
          <p:cNvPicPr>
            <a:picLocks noChangeAspect="1"/>
          </p:cNvPicPr>
          <p:nvPr/>
        </p:nvPicPr>
        <p:blipFill>
          <a:blip r:embed="rId2"/>
          <a:stretch>
            <a:fillRect/>
          </a:stretch>
        </p:blipFill>
        <p:spPr>
          <a:xfrm>
            <a:off x="6766560" y="1828800"/>
            <a:ext cx="4510735" cy="2517620"/>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6.1: Dissection of Stuxnet's 4 zero-days and dual code-signing certificate compromise.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03 // CRYPTOGRAPHIC EVASION  //  SLIDE 07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Subverting Cryptographic Trust</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Bypassing 64-bit Windows Driver Signature Enforcement (DSE)</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The Driver Signature Enforcement Barrier</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The Security Barrier: 64-bit Windows strictly requires all kernel drivers to have a valid WHQL digital signature.</a:t>
            </a:r>
          </a:p>
          <a:p>
            <a:pPr>
              <a:spcAft>
                <a:spcPts val="700"/>
              </a:spcAft>
              <a:defRPr sz="1100">
                <a:solidFill>
                  <a:srgbClr val="DCE4F0"/>
                </a:solidFill>
              </a:defRPr>
            </a:pPr>
            <a:r>
              <a:t>•  The Intelligence Heist: Attackers breached two reputable hardware manufacturers in Hsinchu Science Park, Taiwan.</a:t>
            </a:r>
          </a:p>
          <a:p>
            <a:pPr>
              <a:spcAft>
                <a:spcPts val="700"/>
              </a:spcAft>
              <a:defRPr sz="1100">
                <a:solidFill>
                  <a:srgbClr val="DCE4F0"/>
                </a:solidFill>
              </a:defRPr>
            </a:pPr>
            <a:r>
              <a:t>•  Compromised Vendors: Realtek Semiconductor Corp. and JMicron Technology Corp.</a:t>
            </a:r>
          </a:p>
          <a:p>
            <a:pPr>
              <a:spcAft>
                <a:spcPts val="700"/>
              </a:spcAft>
              <a:defRPr sz="1100">
                <a:solidFill>
                  <a:srgbClr val="DCE4F0"/>
                </a:solidFill>
              </a:defRPr>
            </a:pPr>
            <a:r>
              <a:t>•  Private Key Theft: Exfiltrated private signing keys to sign malicious kernel rootkit drivers (mrxnet.sys, mrxcls.sys).</a:t>
            </a:r>
          </a:p>
          <a:p>
            <a:pPr>
              <a:spcAft>
                <a:spcPts val="700"/>
              </a:spcAft>
              <a:defRPr sz="1100">
                <a:solidFill>
                  <a:srgbClr val="DCE4F0"/>
                </a:solidFill>
              </a:defRPr>
            </a:pPr>
            <a:r>
              <a:t>•  AV Whitelisting: Contemporary antivirus engines and Windows kernel verifiers treated the drivers as trusted software.</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tuxnet_windows_zero_days_internals.jpg"/>
          <p:cNvPicPr>
            <a:picLocks noChangeAspect="1"/>
          </p:cNvPicPr>
          <p:nvPr/>
        </p:nvPicPr>
        <p:blipFill>
          <a:blip r:embed="rId2"/>
          <a:stretch>
            <a:fillRect/>
          </a:stretch>
        </p:blipFill>
        <p:spPr>
          <a:xfrm>
            <a:off x="6766560" y="1828800"/>
            <a:ext cx="4510735" cy="2517620"/>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7.1: Driver Signature Enforcement bypass using stolen Realtek and JMicron digital certificates.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03 // ROOTKIT &amp; STEALTH  //  SLIDE 08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Kernel Rootkit &amp; Memory Anti-Forensics</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Hooking Native APIs and Hiding Malicious Artifacts in Plain Sight</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The mrxnet.sys Rootkit Engine</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Native API Hooking: Hooked NtQueryDirectoryFile and ZwQueryDirectoryFile in the Windows kernel.</a:t>
            </a:r>
          </a:p>
          <a:p>
            <a:pPr>
              <a:spcAft>
                <a:spcPts val="700"/>
              </a:spcAft>
              <a:defRPr sz="1100">
                <a:solidFill>
                  <a:srgbClr val="DCE4F0"/>
                </a:solidFill>
              </a:defRPr>
            </a:pPr>
            <a:r>
              <a:t>•  Ghost Files: Hidden files matching ~WTR*.tmp and malicious .lnk shortcuts were filtered out of directory listings.</a:t>
            </a:r>
          </a:p>
          <a:p>
            <a:pPr>
              <a:spcAft>
                <a:spcPts val="700"/>
              </a:spcAft>
              <a:defRPr sz="1100">
                <a:solidFill>
                  <a:srgbClr val="DCE4F0"/>
                </a:solidFill>
              </a:defRPr>
            </a:pPr>
            <a:r>
              <a:t>•  In-Memory Virtual Filesystem: Decrypted and linked 54 DLL components entirely in RAM; never touched disk unencrypted.</a:t>
            </a:r>
          </a:p>
          <a:p>
            <a:pPr>
              <a:spcAft>
                <a:spcPts val="700"/>
              </a:spcAft>
              <a:defRPr sz="1100">
                <a:solidFill>
                  <a:srgbClr val="DCE4F0"/>
                </a:solidFill>
              </a:defRPr>
            </a:pPr>
            <a:r>
              <a:t>•  Process Injection: Injected into trusted system processes (services.exe, lsass.exe, explorer.exe) to hide activity.</a:t>
            </a:r>
          </a:p>
          <a:p>
            <a:pPr>
              <a:spcAft>
                <a:spcPts val="700"/>
              </a:spcAft>
              <a:defRPr sz="1100">
                <a:solidFill>
                  <a:srgbClr val="DCE4F0"/>
                </a:solidFill>
              </a:defRPr>
            </a:pPr>
            <a:r>
              <a:t>•  Operational Hygiene: Enforced 3-hop infection limit per USB drive; hardcoded kill switch date of June 24, 2012.</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tuxnet_step7_dll_proxy_architecture.jpg"/>
          <p:cNvPicPr>
            <a:picLocks noChangeAspect="1"/>
          </p:cNvPicPr>
          <p:nvPr/>
        </p:nvPicPr>
        <p:blipFill>
          <a:blip r:embed="rId2"/>
          <a:stretch>
            <a:fillRect/>
          </a:stretch>
        </p:blipFill>
        <p:spPr>
          <a:xfrm>
            <a:off x="6766560" y="1828800"/>
            <a:ext cx="4510735" cy="2379937"/>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8.1: Kernel memory injection and DLL proxying architecture.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04 // TARGET IDENTIFICATION  //  SLIDE 09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Target Fingerprinting: The Narrow Funnel</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Exacting Hardware Filters Designed to Prevent Collateral Damage</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The 6-Stage Qualification Funnel</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Filter 1 (Operating System): Windows 2000, XP, Server 2003, or Windows 7.</a:t>
            </a:r>
          </a:p>
          <a:p>
            <a:pPr>
              <a:spcAft>
                <a:spcPts val="700"/>
              </a:spcAft>
              <a:defRPr sz="1100">
                <a:solidFill>
                  <a:srgbClr val="DCE4F0"/>
                </a:solidFill>
              </a:defRPr>
            </a:pPr>
            <a:r>
              <a:t>•  Filter 2 (Industrial Software): Siemens SIMATIC STEP 7 must be installed and active.</a:t>
            </a:r>
          </a:p>
          <a:p>
            <a:pPr>
              <a:spcAft>
                <a:spcPts val="700"/>
              </a:spcAft>
              <a:defRPr sz="1100">
                <a:solidFill>
                  <a:srgbClr val="DCE4F0"/>
                </a:solidFill>
              </a:defRPr>
            </a:pPr>
            <a:r>
              <a:t>•  Filter 3 (Communications Card): Must detect Siemens CP 342-5 communications processor on Profibus DP.</a:t>
            </a:r>
          </a:p>
          <a:p>
            <a:pPr>
              <a:spcAft>
                <a:spcPts val="700"/>
              </a:spcAft>
              <a:defRPr sz="1100">
                <a:solidFill>
                  <a:srgbClr val="DCE4F0"/>
                </a:solidFill>
              </a:defRPr>
            </a:pPr>
            <a:r>
              <a:t>•  Filter 4 (Device Count): Exactly 33 Variable Frequency Drives (VFDs) connected per subnet.</a:t>
            </a:r>
          </a:p>
          <a:p>
            <a:pPr>
              <a:spcAft>
                <a:spcPts val="700"/>
              </a:spcAft>
              <a:defRPr sz="1100">
                <a:solidFill>
                  <a:srgbClr val="DCE4F0"/>
                </a:solidFill>
              </a:defRPr>
            </a:pPr>
            <a:r>
              <a:t>•  Filter 5 (Specific Manufacturers): VFDs must carry vendor IDs belonging to Fararo Paya (Iran) or Vacon (Finland).</a:t>
            </a:r>
          </a:p>
          <a:p>
            <a:pPr>
              <a:spcAft>
                <a:spcPts val="700"/>
              </a:spcAft>
              <a:defRPr sz="1100">
                <a:solidFill>
                  <a:srgbClr val="DCE4F0"/>
                </a:solidFill>
              </a:defRPr>
            </a:pPr>
            <a:r>
              <a:t>•  Filter 6 (Cascade Geometry): Exactly 164 centrifuges arranged in 18 sub-cascades. If ANY check failed, Stuxnet went dormant.</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tuxnet_natanz_centrifuges_cascade.jpg"/>
          <p:cNvPicPr>
            <a:picLocks noChangeAspect="1"/>
          </p:cNvPicPr>
          <p:nvPr/>
        </p:nvPicPr>
        <p:blipFill>
          <a:blip r:embed="rId2"/>
          <a:stretch>
            <a:fillRect/>
          </a:stretch>
        </p:blipFill>
        <p:spPr>
          <a:xfrm>
            <a:off x="6766560" y="1828800"/>
            <a:ext cx="4510735" cy="3142224"/>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9.1: The 164-centrifuge cascade hall at Natanz matching Stuxnet's exact hardware profile.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04 // ENGINEERING MAN-IN-THE-MIDDLE  //  SLIDE 10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The Man-in-the-Middle: s7otbxdx.dll</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Hijacking the Siemens Engineering Workstation and Intercepting PLC Code</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The DLL Replacement Technique</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Core Siemens Library: s7otbxdx.dll handles communication between STEP 7 and Siemens PLCs over Port 102.</a:t>
            </a:r>
          </a:p>
          <a:p>
            <a:pPr>
              <a:spcAft>
                <a:spcPts val="700"/>
              </a:spcAft>
              <a:defRPr sz="1100">
                <a:solidFill>
                  <a:srgbClr val="DCE4F0"/>
                </a:solidFill>
              </a:defRPr>
            </a:pPr>
            <a:r>
              <a:t>•  The Substitution: Renamed legitimate DLL to s7otbxsx.dll and placed weaponized s7otbxdx.dll in its directory.</a:t>
            </a:r>
          </a:p>
          <a:p>
            <a:pPr>
              <a:spcAft>
                <a:spcPts val="700"/>
              </a:spcAft>
              <a:defRPr sz="1100">
                <a:solidFill>
                  <a:srgbClr val="DCE4F0"/>
                </a:solidFill>
              </a:defRPr>
            </a:pPr>
            <a:r>
              <a:t>•  Export Forwarding: Hooked 16 critical PLC functions, including s7blk_read and s7blk_write.</a:t>
            </a:r>
          </a:p>
          <a:p>
            <a:pPr>
              <a:spcAft>
                <a:spcPts val="700"/>
              </a:spcAft>
              <a:defRPr sz="1100">
                <a:solidFill>
                  <a:srgbClr val="DCE4F0"/>
                </a:solidFill>
              </a:defRPr>
            </a:pPr>
            <a:r>
              <a:t>•  Blinding the Engineer: When an engineer clicked 'Compare Blocks' or 'Upload Program from PLC':</a:t>
            </a:r>
          </a:p>
          <a:p>
            <a:pPr>
              <a:spcAft>
                <a:spcPts val="700"/>
              </a:spcAft>
              <a:defRPr sz="1100">
                <a:solidFill>
                  <a:srgbClr val="DCE4F0"/>
                </a:solidFill>
              </a:defRPr>
            </a:pPr>
            <a:r>
              <a:t>•  Stuxnet intercepted the request, fetched the original clean code from s7otbxsx.dll, and displayed clean ladder logic!</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tuxnet_step7_dll_proxy_architecture.jpg"/>
          <p:cNvPicPr>
            <a:picLocks noChangeAspect="1"/>
          </p:cNvPicPr>
          <p:nvPr/>
        </p:nvPicPr>
        <p:blipFill>
          <a:blip r:embed="rId2"/>
          <a:stretch>
            <a:fillRect/>
          </a:stretch>
        </p:blipFill>
        <p:spPr>
          <a:xfrm>
            <a:off x="6766560" y="1828800"/>
            <a:ext cx="4510735" cy="2379937"/>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10.1: Architecture of Stuxnet's DLL proxy hooking STEP 7 communication between EWS and PLC.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05 // PLC INTERNALS  //  SLIDE 11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Inside the Controller: Siemens S7 PLCs</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Direct Microcode Injection into S7-315 and S7-417 Controllers</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S7 Cyclic Execution Model</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Organization Blocks: OB1 (main continuous execution loop) and OB35 (100ms cyclic interrupt timer).</a:t>
            </a:r>
          </a:p>
          <a:p>
            <a:pPr>
              <a:spcAft>
                <a:spcPts val="700"/>
              </a:spcAft>
              <a:defRPr sz="1100">
                <a:solidFill>
                  <a:srgbClr val="DCE4F0"/>
                </a:solidFill>
              </a:defRPr>
            </a:pPr>
            <a:r>
              <a:t>•  Function Blocks (FB/FC): Injected its own malicious blocks: FC1865 through FC1874.</a:t>
            </a:r>
          </a:p>
          <a:p>
            <a:pPr>
              <a:spcAft>
                <a:spcPts val="700"/>
              </a:spcAft>
              <a:defRPr sz="1100">
                <a:solidFill>
                  <a:srgbClr val="DCE4F0"/>
                </a:solidFill>
              </a:defRPr>
            </a:pPr>
            <a:r>
              <a:t>•  Data Blocks (DB): Allocated DB890 and DB8062 to store state-machine timers and recorded sensor readings.</a:t>
            </a:r>
          </a:p>
          <a:p>
            <a:pPr>
              <a:spcAft>
                <a:spcPts val="700"/>
              </a:spcAft>
              <a:defRPr sz="1100">
                <a:solidFill>
                  <a:srgbClr val="DCE4F0"/>
                </a:solidFill>
              </a:defRPr>
            </a:pPr>
            <a:r>
              <a:t>•  Cyclic Splicing: Spliced call to FC1865 into OB1; intercepted DP_SEND (FC1) and DP_RECV (FC2) to hijack Profibus.</a:t>
            </a:r>
          </a:p>
          <a:p>
            <a:pPr>
              <a:spcAft>
                <a:spcPts val="700"/>
              </a:spcAft>
              <a:defRPr sz="1100">
                <a:solidFill>
                  <a:srgbClr val="DCE4F0"/>
                </a:solidFill>
              </a:defRPr>
            </a:pPr>
            <a:r>
              <a:t>•  MC7 Bytecode: Stuxnet was the first malware in history to carry an MC7 compiler targeting PLC microcode directly.</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tuxnet_siemens_s7_mc7_bytecode_injection.jpg"/>
          <p:cNvPicPr>
            <a:picLocks noChangeAspect="1"/>
          </p:cNvPicPr>
          <p:nvPr/>
        </p:nvPicPr>
        <p:blipFill>
          <a:blip r:embed="rId2"/>
          <a:stretch>
            <a:fillRect/>
          </a:stretch>
        </p:blipFill>
        <p:spPr>
          <a:xfrm>
            <a:off x="6766560" y="1828800"/>
            <a:ext cx="4510735" cy="2517620"/>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11.1: Microcode injection layout inside S7 CPU memory hooking OB1/OB35 cyclic loops.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06 // KINETIC PHYSICS SABOTAGE  //  SLIDE 12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The Physics of Sabotage: Centrifuge Destruction</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Exploiting Harmonic Resonance and Rotor Tensile Strength</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Rotational Sabotage Sequence</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Normal Operation: 1,064 Hz (63,840 RPM). The aluminum rotor spins at Mach 1.5 in a high vacuum.</a:t>
            </a:r>
          </a:p>
          <a:p>
            <a:pPr>
              <a:spcAft>
                <a:spcPts val="700"/>
              </a:spcAft>
              <a:defRPr sz="1100">
                <a:solidFill>
                  <a:srgbClr val="DCE4F0"/>
                </a:solidFill>
              </a:defRPr>
            </a:pPr>
            <a:r>
              <a:t>•  Phase 1 (Overspeed Attack): Forced frequency drives up to 1,410 Hz (84,600 RPM) for 15 minutes, exceeding tensile limits.</a:t>
            </a:r>
          </a:p>
          <a:p>
            <a:pPr>
              <a:spcAft>
                <a:spcPts val="700"/>
              </a:spcAft>
              <a:defRPr sz="1100">
                <a:solidFill>
                  <a:srgbClr val="DCE4F0"/>
                </a:solidFill>
              </a:defRPr>
            </a:pPr>
            <a:r>
              <a:t>•  Phase 2 (The Rest Period): Slowed rotors back to normal for 27 days to prevent operational suspicion.</a:t>
            </a:r>
          </a:p>
          <a:p>
            <a:pPr>
              <a:spcAft>
                <a:spcPts val="700"/>
              </a:spcAft>
              <a:defRPr sz="1100">
                <a:solidFill>
                  <a:srgbClr val="DCE4F0"/>
                </a:solidFill>
              </a:defRPr>
            </a:pPr>
            <a:r>
              <a:t>•  Phase 3 (Resonance Crash): Dropped speed down to 2 Hz (120 RPM) for 50 minutes, forcing rotors through harmonic resonance.</a:t>
            </a:r>
          </a:p>
          <a:p>
            <a:pPr>
              <a:spcAft>
                <a:spcPts val="700"/>
              </a:spcAft>
              <a:defRPr sz="1100">
                <a:solidFill>
                  <a:srgbClr val="DCE4F0"/>
                </a:solidFill>
              </a:defRPr>
            </a:pPr>
            <a:r>
              <a:t>•  Catastrophic Impact: Violent flexural bending caused rotors to wobble, strike the vacuum casing, and disintegrate!</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tuxnet_centrifuge_rotor_physics_breakdown.jpg"/>
          <p:cNvPicPr>
            <a:picLocks noChangeAspect="1"/>
          </p:cNvPicPr>
          <p:nvPr/>
        </p:nvPicPr>
        <p:blipFill>
          <a:blip r:embed="rId2"/>
          <a:stretch>
            <a:fillRect/>
          </a:stretch>
        </p:blipFill>
        <p:spPr>
          <a:xfrm>
            <a:off x="6766560" y="1828800"/>
            <a:ext cx="4510735" cy="2517620"/>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12.1: Physical stress breakdown of IR-1 rotor overspeed and harmonic resonance modes.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07 // SENSOR DECEPTION  //  SLIDE 13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The Deception Engine: The 21-Second Replay</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Blinding Control Rooms with Pre-Recorded Authentic Telemetry</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Virtual Reality for SCADA Operators</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The 'Ocean's Eleven' Playbook: In the heist film, thieves tap security cameras and broadcast a 21-second loop.</a:t>
            </a:r>
          </a:p>
          <a:p>
            <a:pPr>
              <a:spcAft>
                <a:spcPts val="700"/>
              </a:spcAft>
              <a:defRPr sz="1100">
                <a:solidFill>
                  <a:srgbClr val="DCE4F0"/>
                </a:solidFill>
              </a:defRPr>
            </a:pPr>
            <a:r>
              <a:t>•  Recording Phase: Stuxnet captured 21 continuous seconds of authentic sensor data (vibration, pressure, temperature).</a:t>
            </a:r>
          </a:p>
          <a:p>
            <a:pPr>
              <a:spcAft>
                <a:spcPts val="700"/>
              </a:spcAft>
              <a:defRPr sz="1100">
                <a:solidFill>
                  <a:srgbClr val="DCE4F0"/>
                </a:solidFill>
              </a:defRPr>
            </a:pPr>
            <a:r>
              <a:t>•  Replay Phase: During the destructive 1,410 Hz attack, severed live sensor feeds and replayed the 21-second nominal recording.</a:t>
            </a:r>
          </a:p>
          <a:p>
            <a:pPr>
              <a:spcAft>
                <a:spcPts val="700"/>
              </a:spcAft>
              <a:defRPr sz="1100">
                <a:solidFill>
                  <a:srgbClr val="DCE4F0"/>
                </a:solidFill>
              </a:defRPr>
            </a:pPr>
            <a:r>
              <a:t>•  Alarm Suppression: Spliced logic suppressed emergency high-vibration trips; operators saw serene green indicators.</a:t>
            </a:r>
          </a:p>
          <a:p>
            <a:pPr>
              <a:spcAft>
                <a:spcPts val="700"/>
              </a:spcAft>
              <a:defRPr sz="1100">
                <a:solidFill>
                  <a:srgbClr val="DCE4F0"/>
                </a:solidFill>
              </a:defRPr>
            </a:pPr>
            <a:r>
              <a:t>•  Human Impact: Plant engineers believed the centrifuges were failing due to poor metallurgy or defective domestic parts.</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tuxnet_deception_engine_replay_timeline.jpg"/>
          <p:cNvPicPr>
            <a:picLocks noChangeAspect="1"/>
          </p:cNvPicPr>
          <p:nvPr/>
        </p:nvPicPr>
        <p:blipFill>
          <a:blip r:embed="rId2"/>
          <a:stretch>
            <a:fillRect/>
          </a:stretch>
        </p:blipFill>
        <p:spPr>
          <a:xfrm>
            <a:off x="6766560" y="1828800"/>
            <a:ext cx="4510735" cy="2517620"/>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13.1: 65-minute comparative timeline: SCADA WinCC display vs. physical reality inside the cascade hall.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07 // PRESSURE SABOTAGE  //  SLIDE 14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The Overpressure Attack: Valve Sabotage</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Suffocating Rotors with Uranium Hexafluoride (UF6) Overpressure</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Stuxnet 0.5: The Gas Valve Sequence</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The Siemens S7-417 Controller: Managed gas piping, isolation valves, and vacuum exhaust for cascades.</a:t>
            </a:r>
          </a:p>
          <a:p>
            <a:pPr>
              <a:spcAft>
                <a:spcPts val="700"/>
              </a:spcAft>
              <a:defRPr sz="1100">
                <a:solidFill>
                  <a:srgbClr val="DCE4F0"/>
                </a:solidFill>
              </a:defRPr>
            </a:pPr>
            <a:r>
              <a:t>•  Closing the Valves: Systematically closed isolation and exhaust valves on active centrifuge cascades.</a:t>
            </a:r>
          </a:p>
          <a:p>
            <a:pPr>
              <a:spcAft>
                <a:spcPts val="700"/>
              </a:spcAft>
              <a:defRPr sz="1100">
                <a:solidFill>
                  <a:srgbClr val="DCE4F0"/>
                </a:solidFill>
              </a:defRPr>
            </a:pPr>
            <a:r>
              <a:t>•  Pressure Buildup: Uranium hexafluoride (UF6) gas accumulated inside the centrifuge cylinder, increasing internal pressure.</a:t>
            </a:r>
          </a:p>
          <a:p>
            <a:pPr>
              <a:spcAft>
                <a:spcPts val="700"/>
              </a:spcAft>
              <a:defRPr sz="1100">
                <a:solidFill>
                  <a:srgbClr val="DCE4F0"/>
                </a:solidFill>
              </a:defRPr>
            </a:pPr>
            <a:r>
              <a:t>•  Molecular Drag: Increased pressure caused massive aerodynamic drag on the rotor spinning at Mach 1.5, generating extreme heat.</a:t>
            </a:r>
          </a:p>
          <a:p>
            <a:pPr>
              <a:spcAft>
                <a:spcPts val="700"/>
              </a:spcAft>
              <a:defRPr sz="1100">
                <a:solidFill>
                  <a:srgbClr val="DCE4F0"/>
                </a:solidFill>
              </a:defRPr>
            </a:pPr>
            <a:r>
              <a:t>•  Gas Solidification: Pressure spikes caused UF6 gas to desublimate into solid crystals, unbalancing rotors and destroying bearings.</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iemens_simatic_s7_400_hardware.jpg"/>
          <p:cNvPicPr>
            <a:picLocks noChangeAspect="1"/>
          </p:cNvPicPr>
          <p:nvPr/>
        </p:nvPicPr>
        <p:blipFill>
          <a:blip r:embed="rId2"/>
          <a:stretch>
            <a:fillRect/>
          </a:stretch>
        </p:blipFill>
        <p:spPr>
          <a:xfrm>
            <a:off x="6766560" y="1828800"/>
            <a:ext cx="4510735" cy="6968680"/>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14.1: Siemens SIMATIC S7-400 controller targeted by Stuxnet 0.5 for cascade gas valve manipulation.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08 // THE ESCAPE  //  SLIDE 15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The Outbreak: Escape into the Wild</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Aggressive Propagation Variants, Global Spread, and the Minsk Discovery</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The Unintended Outbreak</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The Fatal Update: In early 2010, an aggressive variant incorporating the Print Spooler exploit (MS10-061) was released.</a:t>
            </a:r>
          </a:p>
          <a:p>
            <a:pPr>
              <a:spcAft>
                <a:spcPts val="700"/>
              </a:spcAft>
              <a:defRPr sz="1100">
                <a:solidFill>
                  <a:srgbClr val="DCE4F0"/>
                </a:solidFill>
              </a:defRPr>
            </a:pPr>
            <a:r>
              <a:t>•  Leaking the Air Gap: A contractor plugged their laptop into Natanz and then an internet-connected home office.</a:t>
            </a:r>
          </a:p>
          <a:p>
            <a:pPr>
              <a:spcAft>
                <a:spcPts val="700"/>
              </a:spcAft>
              <a:defRPr sz="1100">
                <a:solidFill>
                  <a:srgbClr val="DCE4F0"/>
                </a:solidFill>
              </a:defRPr>
            </a:pPr>
            <a:r>
              <a:t>•  Global Infection Distribution (July 2010): Iran (58.8%), Indonesia (18.2%), India (8.3%), Azerbaijan (2.6%), USA (1.6%).</a:t>
            </a:r>
          </a:p>
          <a:p>
            <a:pPr>
              <a:spcAft>
                <a:spcPts val="700"/>
              </a:spcAft>
              <a:defRPr sz="1100">
                <a:solidFill>
                  <a:srgbClr val="DCE4F0"/>
                </a:solidFill>
              </a:defRPr>
            </a:pPr>
            <a:r>
              <a:t>•  The Minsk Anomaly: In June 2010, an Iranian client PC in Minsk, Belarus experienced infinite blue-screen crash loops.</a:t>
            </a:r>
          </a:p>
          <a:p>
            <a:pPr>
              <a:spcAft>
                <a:spcPts val="700"/>
              </a:spcAft>
              <a:defRPr sz="1100">
                <a:solidFill>
                  <a:srgbClr val="DCE4F0"/>
                </a:solidFill>
              </a:defRPr>
            </a:pPr>
            <a:r>
              <a:t>•  Discovery by VirusBlokAda: Sergey Ulasen and Oleg Kupreev isolated ~WTR4141.tmp and discovered the LNK zero-day.</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tuxnet_global_investigation_and_forensics.jpg"/>
          <p:cNvPicPr>
            <a:picLocks noChangeAspect="1"/>
          </p:cNvPicPr>
          <p:nvPr/>
        </p:nvPicPr>
        <p:blipFill>
          <a:blip r:embed="rId2"/>
          <a:stretch>
            <a:fillRect/>
          </a:stretch>
        </p:blipFill>
        <p:spPr>
          <a:xfrm>
            <a:off x="6766560" y="1828800"/>
            <a:ext cx="4510735" cy="2517620"/>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15.1: Global infection distribution and timeline leading to discovery in Minsk, Belarus.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09 // REVERSE ENGINEERING  //  SLIDE 16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Reverse Engineering: Cracking the Code</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How Global Researchers Assembled the Pieces of the Stuxnet Puzzle</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The Forensic Investigation</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Symantec Core Team: Liam O'Murchu, Eric Chien, and Nicolas Falliere spent six months reconstructing the 500 KB binary.</a:t>
            </a:r>
          </a:p>
          <a:p>
            <a:pPr>
              <a:spcAft>
                <a:spcPts val="700"/>
              </a:spcAft>
              <a:defRPr sz="1100">
                <a:solidFill>
                  <a:srgbClr val="DCE4F0"/>
                </a:solidFill>
              </a:defRPr>
            </a:pPr>
            <a:r>
              <a:t>•  Ralph Langner's Epiphany: German ICS consultant Ralph Langner recognized Siemens MC7 assembly commands and frequency parameters.</a:t>
            </a:r>
          </a:p>
          <a:p>
            <a:pPr>
              <a:spcAft>
                <a:spcPts val="700"/>
              </a:spcAft>
              <a:defRPr sz="1100">
                <a:solidFill>
                  <a:srgbClr val="DCE4F0"/>
                </a:solidFill>
              </a:defRPr>
            </a:pPr>
            <a:r>
              <a:t>•  The Sabotage Realization: 'This is not a corporate espionage tool. It is looking for frequency drives to destroy centrifuges!'</a:t>
            </a:r>
          </a:p>
          <a:p>
            <a:pPr>
              <a:spcAft>
                <a:spcPts val="700"/>
              </a:spcAft>
              <a:defRPr sz="1100">
                <a:solidFill>
                  <a:srgbClr val="DCE4F0"/>
                </a:solidFill>
              </a:defRPr>
            </a:pPr>
            <a:r>
              <a:t>•  Operation Olympic Games: In 2012, investigative reporting confirmed Stuxnet was a joint US-Israeli program (NSA, CIA, Unit 8200).</a:t>
            </a:r>
          </a:p>
          <a:p>
            <a:pPr>
              <a:spcAft>
                <a:spcPts val="700"/>
              </a:spcAft>
              <a:defRPr sz="1100">
                <a:solidFill>
                  <a:srgbClr val="DCE4F0"/>
                </a:solidFill>
              </a:defRPr>
            </a:pPr>
            <a:r>
              <a:t>•  Interdisciplinary Forensics: Required Windows kernel specialists, industrial automation engineers, and nuclear physicists.</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tuxnet_global_investigation_and_forensics.jpg"/>
          <p:cNvPicPr>
            <a:picLocks noChangeAspect="1"/>
          </p:cNvPicPr>
          <p:nvPr/>
        </p:nvPicPr>
        <p:blipFill>
          <a:blip r:embed="rId2"/>
          <a:stretch>
            <a:fillRect/>
          </a:stretch>
        </p:blipFill>
        <p:spPr>
          <a:xfrm>
            <a:off x="6766560" y="1828800"/>
            <a:ext cx="4510735" cy="2517620"/>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16.1: Global forensic timeline: VirusBlokAda, Symantec, Ralph Langner, and Kaspersky reverse-engineering teams.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09 // THREAT FRAMEWORK  //  SLIDE 17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MITRE ATT&amp;CK for ICS: Stuxnet Matrix</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Tactics, Techniques &amp; Procedures (TTPs) of an Advanced Cyber Weapon</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Enterprise &amp; ICS Tactics Breakdown</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Initial Access: T0847 (Replication Through Removable Media), T0865 (Supply Chain).</a:t>
            </a:r>
          </a:p>
          <a:p>
            <a:pPr>
              <a:spcAft>
                <a:spcPts val="700"/>
              </a:spcAft>
              <a:defRPr sz="1100">
                <a:solidFill>
                  <a:srgbClr val="DCE4F0"/>
                </a:solidFill>
              </a:defRPr>
            </a:pPr>
            <a:r>
              <a:t>•  Execution: T0807 (Command-Line Interface), T0833 (Modify Controller Tasking).</a:t>
            </a:r>
          </a:p>
          <a:p>
            <a:pPr>
              <a:spcAft>
                <a:spcPts val="700"/>
              </a:spcAft>
              <a:defRPr sz="1100">
                <a:solidFill>
                  <a:srgbClr val="DCE4F0"/>
                </a:solidFill>
              </a:defRPr>
            </a:pPr>
            <a:r>
              <a:t>•  Persistence: T0839 (Module Firmware/Logic Modification), T0859 (Valid Digital Certificates).</a:t>
            </a:r>
          </a:p>
          <a:p>
            <a:pPr>
              <a:spcAft>
                <a:spcPts val="700"/>
              </a:spcAft>
              <a:defRPr sz="1100">
                <a:solidFill>
                  <a:srgbClr val="DCE4F0"/>
                </a:solidFill>
              </a:defRPr>
            </a:pPr>
            <a:r>
              <a:t>•  Evasion: T0820 (Exploitation for Evasion), T0851 (Rootkit / DLL Proxy), T0856 (Spoof Reporting Message).</a:t>
            </a:r>
          </a:p>
          <a:p>
            <a:pPr>
              <a:spcAft>
                <a:spcPts val="700"/>
              </a:spcAft>
              <a:defRPr sz="1100">
                <a:solidFill>
                  <a:srgbClr val="DCE4F0"/>
                </a:solidFill>
              </a:defRPr>
            </a:pPr>
            <a:r>
              <a:t>•  Impair Control &amp; Impact: T0836 (Modify Parameter), T0855 (Unauthorized Command), T0879 (Damage to Property).</a:t>
            </a:r>
          </a:p>
          <a:p>
            <a:pPr>
              <a:spcAft>
                <a:spcPts val="700"/>
              </a:spcAft>
              <a:defRPr sz="1100">
                <a:solidFill>
                  <a:srgbClr val="DCE4F0"/>
                </a:solidFill>
              </a:defRPr>
            </a:pPr>
            <a:r>
              <a:t>•  Birth of ICS Matrix: Stuxnet's tradecraft served as the foundational blueprint for creating the MITRE ATT&amp;CK for ICS matrix.</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tuxnet_purdue_model_deep_dive.jpg"/>
          <p:cNvPicPr>
            <a:picLocks noChangeAspect="1"/>
          </p:cNvPicPr>
          <p:nvPr/>
        </p:nvPicPr>
        <p:blipFill>
          <a:blip r:embed="rId2"/>
          <a:stretch>
            <a:fillRect/>
          </a:stretch>
        </p:blipFill>
        <p:spPr>
          <a:xfrm>
            <a:off x="6766560" y="1828800"/>
            <a:ext cx="4510735" cy="2517620"/>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17.1: Mapping Stuxnet's tactical lifecycle across the Purdue industrial levels.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10 // BLUE TEAM DEFENSE  //  SLIDE 18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OT Detection Engineering &amp; Playbooks</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Suricata Signatures, Workstation Baselines &amp; Out-of-Band Telemetry</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4-Tier Defensive Hardening Architecture</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1. Network DPI: Monitor S7comm over Port 102. Alert on Function 0x1A (Download Block) outside maintenance windows.</a:t>
            </a:r>
          </a:p>
          <a:p>
            <a:pPr>
              <a:spcAft>
                <a:spcPts val="700"/>
              </a:spcAft>
              <a:defRPr sz="1100">
                <a:solidFill>
                  <a:srgbClr val="DCE4F0"/>
                </a:solidFill>
              </a:defRPr>
            </a:pPr>
            <a:r>
              <a:t>•  2. Workstation FIM: Cryptographically hash all DLLs in %ProgramFiles%\Siemens\Step7\S7BIN\ to detect s7otbxdx.dll tampering.</a:t>
            </a:r>
          </a:p>
          <a:p>
            <a:pPr>
              <a:spcAft>
                <a:spcPts val="700"/>
              </a:spcAft>
              <a:defRPr sz="1100">
                <a:solidFill>
                  <a:srgbClr val="DCE4F0"/>
                </a:solidFill>
              </a:defRPr>
            </a:pPr>
            <a:r>
              <a:t>•  3. Controller Memory Verification: Implement out-of-band automated memory hashing comparing active PLC blocks against golden Git repos.</a:t>
            </a:r>
          </a:p>
          <a:p>
            <a:pPr>
              <a:spcAft>
                <a:spcPts val="700"/>
              </a:spcAft>
              <a:defRPr sz="1100">
                <a:solidFill>
                  <a:srgbClr val="DCE4F0"/>
                </a:solidFill>
              </a:defRPr>
            </a:pPr>
            <a:r>
              <a:t>•  4. Out-of-Band Physical Sensors: Mount independent vibration and acoustic sensors wired to an isolated analog recorder bypassing the PLC!</a:t>
            </a:r>
          </a:p>
          <a:p>
            <a:pPr>
              <a:spcAft>
                <a:spcPts val="700"/>
              </a:spcAft>
              <a:defRPr sz="1100">
                <a:solidFill>
                  <a:srgbClr val="DCE4F0"/>
                </a:solidFill>
              </a:defRPr>
            </a:pPr>
            <a:r>
              <a:t>•  Ground Truth Principle: When digital SCADA screens can be spoofed by man-in-the-middle replays, only physics provides reality.</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tuxnet_scada_plc_network_architecture.jpg"/>
          <p:cNvPicPr>
            <a:picLocks noChangeAspect="1"/>
          </p:cNvPicPr>
          <p:nvPr/>
        </p:nvPicPr>
        <p:blipFill>
          <a:blip r:embed="rId2"/>
          <a:stretch>
            <a:fillRect/>
          </a:stretch>
        </p:blipFill>
        <p:spPr>
          <a:xfrm>
            <a:off x="6766560" y="1828800"/>
            <a:ext cx="4510735" cy="2497143"/>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18.1: Defensive sensor placement across Level 1 and Level 2 industrial networks.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10 // EVOLUTION &amp; THREAT LANDSCAPE  //  SLIDE 19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The Weaponized ICS Dynasty (2010-2026)</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From Stuxnet to PIPEDREAM: The Evolution of Industrial Cyber Warfare</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The Lineage of Kinetic Malware</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2010 // STUXNET: First kinetic malware; targeted Siemens PLCs to destroy uranium centrifuges.</a:t>
            </a:r>
          </a:p>
          <a:p>
            <a:pPr>
              <a:spcAft>
                <a:spcPts val="700"/>
              </a:spcAft>
              <a:defRPr sz="1100">
                <a:solidFill>
                  <a:srgbClr val="DCE4F0"/>
                </a:solidFill>
              </a:defRPr>
            </a:pPr>
            <a:r>
              <a:t>•  2011-2012 // DUQU &amp; FLAME: Modular cyber-reconnaissance platforms sharing Stuxnet's Tilded platform framework.</a:t>
            </a:r>
          </a:p>
          <a:p>
            <a:pPr>
              <a:spcAft>
                <a:spcPts val="700"/>
              </a:spcAft>
              <a:defRPr sz="1100">
                <a:solidFill>
                  <a:srgbClr val="DCE4F0"/>
                </a:solidFill>
              </a:defRPr>
            </a:pPr>
            <a:r>
              <a:t>•  2015 // BLACKENERGY 3: First cyberattack to cause an electrical blackout; shut down 30 substations in Ukraine.</a:t>
            </a:r>
          </a:p>
          <a:p>
            <a:pPr>
              <a:spcAft>
                <a:spcPts val="700"/>
              </a:spcAft>
              <a:defRPr sz="1100">
                <a:solidFill>
                  <a:srgbClr val="DCE4F0"/>
                </a:solidFill>
              </a:defRPr>
            </a:pPr>
            <a:r>
              <a:t>•  2016 // INDUSTROYER: Automated malware directly speaking IEC 60870-5-104 and IEC 61850 substation protocols.</a:t>
            </a:r>
          </a:p>
          <a:p>
            <a:pPr>
              <a:spcAft>
                <a:spcPts val="700"/>
              </a:spcAft>
              <a:defRPr sz="1100">
                <a:solidFill>
                  <a:srgbClr val="DCE4F0"/>
                </a:solidFill>
              </a:defRPr>
            </a:pPr>
            <a:r>
              <a:t>•  2017 // TRITON / TRISIS: First attack targeting Safety Instrumented Systems (Schneider Triconex) in a petrochemical plant.</a:t>
            </a:r>
          </a:p>
          <a:p>
            <a:pPr>
              <a:spcAft>
                <a:spcPts val="700"/>
              </a:spcAft>
              <a:defRPr sz="1100">
                <a:solidFill>
                  <a:srgbClr val="DCE4F0"/>
                </a:solidFill>
              </a:defRPr>
            </a:pPr>
            <a:r>
              <a:t>•  2022 // PIPEDREAM: Modular, multi-vendor toolkit capable of targeting Omron, Schneider PLCs, and OPC UA worldwide.</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tuxnet_how_it_worked_infographic.jpg"/>
          <p:cNvPicPr>
            <a:picLocks noChangeAspect="1"/>
          </p:cNvPicPr>
          <p:nvPr/>
        </p:nvPicPr>
        <p:blipFill>
          <a:blip r:embed="rId2"/>
          <a:stretch>
            <a:fillRect/>
          </a:stretch>
        </p:blipFill>
        <p:spPr>
          <a:xfrm>
            <a:off x="6766560" y="1828800"/>
            <a:ext cx="4510735" cy="3383051"/>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19.1: Evolution from bespoke single-target malware to modular cross-industry ICS attack frameworks.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a:spAutoFit/>
          </a:bodyPr>
          <a:lstStyle/>
          <a:p>
            <a:pPr>
              <a:defRPr sz="1000" b="1">
                <a:solidFill>
                  <a:srgbClr val="00F0FF"/>
                </a:solidFill>
              </a:defRPr>
            </a:pPr>
            <a:r>
              <a:t>ACT 10 // CONCLUSION &amp; SIMULATION  //  SLIDE 20 OF 20</a:t>
            </a:r>
          </a:p>
        </p:txBody>
      </p:sp>
      <p:sp>
        <p:nvSpPr>
          <p:cNvPr id="5" name="TextBox 4"/>
          <p:cNvSpPr txBox="1"/>
          <p:nvPr/>
        </p:nvSpPr>
        <p:spPr>
          <a:xfrm>
            <a:off x="731520" y="685800"/>
            <a:ext cx="9144000" cy="548640"/>
          </a:xfrm>
          <a:prstGeom prst="rect">
            <a:avLst/>
          </a:prstGeom>
          <a:noFill/>
        </p:spPr>
        <p:txBody>
          <a:bodyPr wrap="square">
            <a:spAutoFit/>
          </a:bodyPr>
          <a:lstStyle/>
          <a:p>
            <a:pPr>
              <a:defRPr sz="2200" b="1">
                <a:solidFill>
                  <a:srgbClr val="F0F4FC"/>
                </a:solidFill>
              </a:defRPr>
            </a:pPr>
            <a:r>
              <a:t>Conclusion &amp; Tabletop Simulation</a:t>
            </a:r>
          </a:p>
        </p:txBody>
      </p:sp>
      <p:sp>
        <p:nvSpPr>
          <p:cNvPr id="6" name="TextBox 5"/>
          <p:cNvSpPr txBox="1"/>
          <p:nvPr/>
        </p:nvSpPr>
        <p:spPr>
          <a:xfrm>
            <a:off x="731520" y="1234440"/>
            <a:ext cx="10728655" cy="320040"/>
          </a:xfrm>
          <a:prstGeom prst="rect">
            <a:avLst/>
          </a:prstGeom>
          <a:noFill/>
        </p:spPr>
        <p:txBody>
          <a:bodyPr wrap="square">
            <a:spAutoFit/>
          </a:bodyPr>
          <a:lstStyle/>
          <a:p>
            <a:pPr>
              <a:defRPr sz="1200">
                <a:solidFill>
                  <a:srgbClr val="8B9BB4"/>
                </a:solidFill>
              </a:defRPr>
            </a:pPr>
            <a:r>
              <a:t>Key Seminar Takeaways &amp; Launching 'Operation Centrifuge Shadow'</a:t>
            </a:r>
          </a:p>
        </p:txBody>
      </p:sp>
      <p:sp>
        <p:nvSpPr>
          <p:cNvPr id="7" name="Rounded Rectangle 6"/>
          <p:cNvSpPr/>
          <p:nvPr/>
        </p:nvSpPr>
        <p:spPr>
          <a:xfrm>
            <a:off x="731520" y="1645920"/>
            <a:ext cx="5669280"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5303520" cy="365760"/>
          </a:xfrm>
          <a:prstGeom prst="rect">
            <a:avLst/>
          </a:prstGeom>
          <a:noFill/>
        </p:spPr>
        <p:txBody>
          <a:bodyPr wrap="none">
            <a:spAutoFit/>
          </a:bodyPr>
          <a:lstStyle/>
          <a:p>
            <a:pPr>
              <a:defRPr sz="1300" b="1">
                <a:solidFill>
                  <a:srgbClr val="F0F4FC"/>
                </a:solidFill>
              </a:defRPr>
            </a:pPr>
            <a:r>
              <a:t>3 Enduring Seminar Lessons</a:t>
            </a:r>
          </a:p>
        </p:txBody>
      </p:sp>
      <p:sp>
        <p:nvSpPr>
          <p:cNvPr id="9" name="TextBox 8"/>
          <p:cNvSpPr txBox="1"/>
          <p:nvPr/>
        </p:nvSpPr>
        <p:spPr>
          <a:xfrm>
            <a:off x="914400" y="2194560"/>
            <a:ext cx="5303520" cy="4023360"/>
          </a:xfrm>
          <a:prstGeom prst="rect">
            <a:avLst/>
          </a:prstGeom>
          <a:noFill/>
        </p:spPr>
        <p:txBody>
          <a:bodyPr wrap="square" lIns="45720" rIns="45720">
            <a:spAutoFit/>
          </a:bodyPr>
          <a:lstStyle/>
          <a:p>
            <a:pPr>
              <a:spcAft>
                <a:spcPts val="700"/>
              </a:spcAft>
              <a:defRPr sz="1100">
                <a:solidFill>
                  <a:srgbClr val="DCE4F0"/>
                </a:solidFill>
              </a:defRPr>
            </a:pPr>
            <a:r>
              <a:t>•  1. The Air Gap is an Operational Delusion: Physical isolation is routinely bridged by human routines and removable media.</a:t>
            </a:r>
          </a:p>
          <a:p>
            <a:pPr>
              <a:spcAft>
                <a:spcPts val="700"/>
              </a:spcAft>
              <a:defRPr sz="1100">
                <a:solidFill>
                  <a:srgbClr val="DCE4F0"/>
                </a:solidFill>
              </a:defRPr>
            </a:pPr>
            <a:r>
              <a:t>•  2. Physics is the Ground Truth: Digital SCADA displays can be deceived; only out-of-band physical telemetry provides reality.</a:t>
            </a:r>
          </a:p>
          <a:p>
            <a:pPr>
              <a:spcAft>
                <a:spcPts val="700"/>
              </a:spcAft>
              <a:defRPr sz="1100">
                <a:solidFill>
                  <a:srgbClr val="DCE4F0"/>
                </a:solidFill>
              </a:defRPr>
            </a:pPr>
            <a:r>
              <a:t>•  3. Code Can Bend Steel: Cybersecurity is no longer an IT support function—it is a matter of safety and physical defense.</a:t>
            </a:r>
          </a:p>
          <a:p>
            <a:pPr>
              <a:spcAft>
                <a:spcPts val="700"/>
              </a:spcAft>
              <a:defRPr sz="1100">
                <a:solidFill>
                  <a:srgbClr val="DCE4F0"/>
                </a:solidFill>
              </a:defRPr>
            </a:pPr>
            <a:r>
              <a:t>•  Tabletop Exercise Kickoff: Veritas Chemical &amp; Separation Facility (Centrifuge Cascade Unit 4).</a:t>
            </a:r>
          </a:p>
          <a:p>
            <a:pPr>
              <a:spcAft>
                <a:spcPts val="700"/>
              </a:spcAft>
              <a:defRPr sz="1100">
                <a:solidFill>
                  <a:srgbClr val="DCE4F0"/>
                </a:solidFill>
              </a:defRPr>
            </a:pPr>
            <a:r>
              <a:t>•  Simulation Injects: Inject 1 (USB Calibration) -&gt; Inject 2 (S7comm Alert) -&gt; Inject 3 (Telemetry Lag) -&gt; Inject 4 (Trip Failure).</a:t>
            </a:r>
          </a:p>
        </p:txBody>
      </p:sp>
      <p:sp>
        <p:nvSpPr>
          <p:cNvPr id="10" name="Rounded Rectangle 9"/>
          <p:cNvSpPr/>
          <p:nvPr/>
        </p:nvSpPr>
        <p:spPr>
          <a:xfrm>
            <a:off x="6583680" y="1645920"/>
            <a:ext cx="4876495" cy="4663440"/>
          </a:xfrm>
          <a:prstGeom prst="roundRect">
            <a:avLst/>
          </a:prstGeom>
          <a:solidFill>
            <a:srgbClr val="101827"/>
          </a:solidFill>
          <a:ln w="12700">
            <a:solidFill>
              <a:srgbClr val="1F2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natanz_underground_site_overview.jpg"/>
          <p:cNvPicPr>
            <a:picLocks noChangeAspect="1"/>
          </p:cNvPicPr>
          <p:nvPr/>
        </p:nvPicPr>
        <p:blipFill>
          <a:blip r:embed="rId2"/>
          <a:stretch>
            <a:fillRect/>
          </a:stretch>
        </p:blipFill>
        <p:spPr>
          <a:xfrm>
            <a:off x="6766560" y="1828800"/>
            <a:ext cx="4510735" cy="3580396"/>
          </a:xfrm>
          <a:prstGeom prst="rect">
            <a:avLst/>
          </a:prstGeom>
        </p:spPr>
      </p:pic>
      <p:sp>
        <p:nvSpPr>
          <p:cNvPr id="12" name="TextBox 11"/>
          <p:cNvSpPr txBox="1"/>
          <p:nvPr/>
        </p:nvSpPr>
        <p:spPr>
          <a:xfrm>
            <a:off x="6675120" y="5806440"/>
            <a:ext cx="4693615" cy="411480"/>
          </a:xfrm>
          <a:prstGeom prst="rect">
            <a:avLst/>
          </a:prstGeom>
          <a:noFill/>
        </p:spPr>
        <p:txBody>
          <a:bodyPr wrap="square">
            <a:spAutoFit/>
          </a:bodyPr>
          <a:lstStyle/>
          <a:p>
            <a:pPr algn="ctr">
              <a:defRPr sz="950">
                <a:solidFill>
                  <a:srgbClr val="8B9BB4"/>
                </a:solidFill>
              </a:defRPr>
            </a:pPr>
            <a:r>
              <a:t>FIGURE 20.1: Operation Centrifuge Shadow Tabletop Simulation scenario environment.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