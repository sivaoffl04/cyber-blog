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EBF2FA"/>
                </a:solidFill>
                <a:latin typeface="Aptos Display"/>
              </a:defRPr>
            </a:pPr>
            <a:r>
              <a:t>STUXNET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When Cybersecurity Crossed Into the Physical World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An In-Depth Cyber-Physical Attack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2500">
                <a:solidFill>
                  <a:srgbClr val="00D2BE"/>
                </a:solidFill>
                <a:latin typeface="Aptos"/>
              </a:defRPr>
            </a:pPr>
            <a:r>
              <a:t>When Cybersecurity Crossed Into the Physical World</a:t>
            </a:r>
          </a:p>
          <a:p>
            <a:pPr algn="ctr">
              <a:spcAft>
                <a:spcPts val="1200"/>
              </a:spcAft>
              <a:defRPr sz="1800">
                <a:solidFill>
                  <a:srgbClr val="CDD7E1"/>
                </a:solidFill>
                <a:latin typeface="Aptos"/>
              </a:defRPr>
            </a:pPr>
            <a:r>
              <a:t>An In-Depth Cyber-Physical Attack Case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1. What Was Stuxnet?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Sophisticated malware publicly discovered in 2010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Designed for a highly specific industrial environment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Interacted with Siemens STEP 7 / WinCC environments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Its specialized payload targeted industrial control systems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Widely studied as a landmark cyber-physical attack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2. Why Stuxnet Was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Traditional malware → data theft, espionage, disruption or extortion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Stuxnet → moved from IT systems toward industrial control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The objective was not simply to compromise a computer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The operation demonstrated how software could influence physical machinery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Key concept: Computer → PLC → Machine → Physical Process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3. Target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Widely assessed target: Natanz Fuel Enrichment Plant, Iran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Industrial Control System (ICS) / Operational Technology (OT)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Siemens S7 PLC-based control environment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Engineering workstations used Siemens STEP 7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Specialized payload associated with centrifuge operations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4. Simplified Industrial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Engineering Workstation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Siemens STEP 7 / Engineering Software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Siemens PLC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Frequency Converter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Centrifuge Motor / Physical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5. How Stuxnet Reached the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Used multiple propagation mechanisms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Infected removable media was an important pathway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Also propagated through network shares and Windows vulnerabilities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Could interact with STEP 7 project files and WinCC-related systems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Lesson: air-gapping reduces risk but does not eliminate trusted-transfer paths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6. Exploitation &amp; Propagation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Used multiple Windows vulnerabilities, including zero-days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Combined exploitation with stealth and propagation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Could move beyond the initially infected computer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Security researchers later identified several exploited vulnerabilities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CISA documented multiple propagation mechanisms and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7. Target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Stuxnet was highly selective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It looked for characteristics of the intended industrial environment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Specialized behavior depended on compatible Siemens systems and controller conditions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Target validation reduced the chance of indiscriminate industrial activation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This selectivity was a major reason for its historical significance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8. PLC Manipulation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PLC = Programmable Logic Controller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PLCs execute control logic for industrial equipment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Technical analysis identified Stuxnet sequences targeting Siemens S7 controllers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Frequency-converter control was associated with centrifuge operation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The key shift: malware behavior reached the control layer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9. Physical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Specialized sequences manipulated operating conditions associated with centrifuges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Researchers connected the behavior to IR-1 centrifuge characteristics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The incident caused significant disruption at Natanz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Exact damage figures should be treated as analytical estimates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Cyber compromise therefore had potential physical consequences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10. Deception &amp; Operator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Industrial operators depend on monitoring and process information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Stuxnet included behavior intended to conceal abnormal control activity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A compromised control system can create a gap between displayed and actual process state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Defenders must validate both digital telemetry and physical behavior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Key question: Can the operator trust the process representation?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11. Attack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Reconnaissance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Weaponization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Delivery / Propagation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Windows Exploitation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Siemens Engineering Environment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PLC Targeting → Physical Process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12. Stuxnet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2009 — Early Stuxnet activity identified in later analysis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June 2010 — Malware publicly identified and investigated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Mid-2010 — Researchers uncover unusual sophistication and exploits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Late 2010 — Siemens / PLC targeting becomes clearer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December 2010 — Detailed technical analysis links PLC behavior to Natanz centrifuges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2011 onward — Further reverse engineering and industrial analysis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2025 — Stuxnet revisited in U.S. congressional discussion of critical infrastructure security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13. How Was It Discovered?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Stuxnet propagated beyond its intended environment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Unexpected infections attracted security researchers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Researchers collected samples and reverse engineered the malware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Multiple Windows exploits were identified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Siemens software interactions were discovered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PLC functionality ultimately revealed the cyber-physical dimension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14. How Was the Incident Addressed?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Identify malware and indicators of compromise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Patch affected Windows vulnerabilities where appropriate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Investigate Siemens engineering environments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Validate STEP 7 projects and controller configurations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Assess whether PLC logic or process behavior was altered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Recover using trusted configurations and monitor the industrial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15. OT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1. Detect suspicious endpoint, network and engineering activity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2. Assess physical and operational safety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3. Contain affected systems using approved procedures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4. Preserve malware, logs and controller evidence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5. Validate PLC programs and configurations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6. Verify the physical process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7. Recover from trusted baselines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8. Monitor and harden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16. SOC / OT Detection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Endpoint telemetry: suspicious files, drivers and system changes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Network telemetry: unexpected communication and lateral movement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Engineering telemetry: project and configuration changes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PLC integrity: unauthorized logic or configuration modifications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Process monitoring: inconsistent or abnormal physical values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Correlate IT + OT + engineering 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17. Defensive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Internet / Enterprise IT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Firewall / Controlled Boundary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Industrial DMZ (IDMZ)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Engineering / OT Network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PLC Network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        ↓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Controllers → Sensors / Actuators → Physical Process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18. Key Security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Air gaps are not absolute security boundaries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Protect engineering workstations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Control removable media and maintenance paths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Monitor PLC logic and configuration integrity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Use defense in depth and network segmentation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Prepare OT-specific incident-response procedures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Combine cybersecurity expertise with industrial engineering expertise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19. Why Stuxnet Still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Critical infrastructure increasingly depends on connected digital systems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A cyber incident can become an operational or physical incident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OT security must protect safety and process integrity, not only data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Modern defenders need visibility across IT, OT and engineering layers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Stuxnet remains a foundational cyber-physical security case study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20. 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STUXNET changed how the world understood industrial cybersecurity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It demonstrated the path: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Computer → Engineering System → PLC → Industrial Equipment → Physical Process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The central security question is no longer only: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“Is the computer secure?”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It is also:</a:t>
            </a:r>
          </a:p>
          <a:p>
            <a:pPr>
              <a:spcAft>
                <a:spcPts val="1000"/>
              </a:spcAft>
              <a:defRPr sz="1800">
                <a:solidFill>
                  <a:srgbClr val="D7E1EB"/>
                </a:solidFill>
                <a:latin typeface="Aptos"/>
              </a:defRPr>
            </a:pPr>
            <a:r>
              <a:t>• “Can we trust the physical process controlled by the computer?”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21. Discussion /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10515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Why was Stuxnet different from conventional malware?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Why does an air gap not guarantee security?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How should a SOC detect PLC manipulation?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How can organizations validate controller integrity?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Why must OT incident response consider physical safety?</a:t>
            </a:r>
          </a:p>
          <a:p>
            <a:pPr>
              <a:spcAft>
                <a:spcPts val="1000"/>
              </a:spcAft>
              <a:defRPr sz="2100">
                <a:solidFill>
                  <a:srgbClr val="D7E1EB"/>
                </a:solidFill>
                <a:latin typeface="Aptos"/>
              </a:defRPr>
            </a:pPr>
            <a:r>
              <a:t>• Thank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EBF2FA"/>
                </a:solidFill>
                <a:latin typeface="Aptos Display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CISA / ICS-CERT — Primary Stuxnet Advisory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https://www.cisa.gov/uscert/ics/advisories/ICSA-10-272-01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Institute for Science and International Security — Stuxnet Malware and Natanz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https://isis-online.org/isis-reports/stuxnet-malware-and-natanz-update-of-isis-december-22-2010-reportsupa-href1/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MITRE ATT&amp;CK — ICS Matrix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https://attack.mitre.org/matrices/ics/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NIST SP 800-82 Rev. 3 — Guide to Operational Technology (OT) Security</a:t>
            </a:r>
          </a:p>
          <a:p>
            <a:pPr>
              <a:spcAft>
                <a:spcPts val="800"/>
              </a:spcAft>
              <a:defRPr sz="1700">
                <a:solidFill>
                  <a:srgbClr val="D7E1EB"/>
                </a:solidFill>
                <a:latin typeface="Aptos"/>
              </a:defRPr>
            </a:pPr>
            <a:r>
              <a:t>https://csrc.nist.gov/pubs/sp/800/82/r3/final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